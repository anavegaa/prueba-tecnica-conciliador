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layfair Display Semi-Bold" charset="1" panose="00000000000000000000"/>
      <p:regular r:id="rId11"/>
    </p:embeddedFont>
    <p:embeddedFont>
      <p:font typeface="Raleway" charset="1" panose="00000000000000000000"/>
      <p:regular r:id="rId12"/>
    </p:embeddedFont>
    <p:embeddedFont>
      <p:font typeface="Open Sans" charset="1" panose="020B0606030504020204"/>
      <p:regular r:id="rId13"/>
    </p:embeddedFont>
    <p:embeddedFont>
      <p:font typeface="Playfair Display" charset="1" panose="00000000000000000000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5075" y="3135817"/>
            <a:ext cx="14997850" cy="225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b="true" sz="9999" spc="-839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CONCILIADOR DE FACTURAS Y RETENCIONES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02877" y="6193351"/>
            <a:ext cx="13482245" cy="120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sz="3468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Prototipo full-stack para la conciliación automática de información contable y tributaria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78165" y="9536303"/>
            <a:ext cx="290536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C3936"/>
                </a:solidFill>
                <a:latin typeface="Open Sans"/>
                <a:ea typeface="Open Sans"/>
                <a:cs typeface="Open Sans"/>
                <a:sym typeface="Open Sans"/>
              </a:rPr>
              <a:t>Ana María Vega Angarita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2200" y="876364"/>
            <a:ext cx="13763600" cy="8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0"/>
              </a:lnSpc>
              <a:spcBef>
                <a:spcPct val="0"/>
              </a:spcBef>
            </a:pPr>
            <a:r>
              <a:rPr lang="en-US" b="true" sz="7500" spc="-517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REGLAS DE CONCILIACIÓN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8458" y="3925064"/>
            <a:ext cx="17831084" cy="2436873"/>
            <a:chOff x="0" y="0"/>
            <a:chExt cx="23774779" cy="324916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994342" y="0"/>
              <a:ext cx="3795712" cy="3249164"/>
              <a:chOff x="0" y="0"/>
              <a:chExt cx="749770" cy="6418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49770" cy="641810"/>
              </a:xfrm>
              <a:custGeom>
                <a:avLst/>
                <a:gdLst/>
                <a:ahLst/>
                <a:cxnLst/>
                <a:rect r="r" b="b" t="t" l="l"/>
                <a:pathLst>
                  <a:path h="641810" w="749770">
                    <a:moveTo>
                      <a:pt x="0" y="0"/>
                    </a:moveTo>
                    <a:lnTo>
                      <a:pt x="749770" y="0"/>
                    </a:lnTo>
                    <a:lnTo>
                      <a:pt x="749770" y="641810"/>
                    </a:lnTo>
                    <a:lnTo>
                      <a:pt x="0" y="641810"/>
                    </a:lnTo>
                    <a:close/>
                  </a:path>
                </a:pathLst>
              </a:custGeom>
              <a:solidFill>
                <a:srgbClr val="3C393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749770" cy="698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543944" y="1002166"/>
              <a:ext cx="6696508" cy="604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7"/>
                </a:lnSpc>
                <a:spcBef>
                  <a:spcPct val="0"/>
                </a:spcBef>
              </a:pPr>
              <a:r>
                <a:rPr lang="en-US" sz="3496" spc="-241">
                  <a:solidFill>
                    <a:srgbClr val="F1EAE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TOTAL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724371" y="1892456"/>
              <a:ext cx="8335652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1EAE0"/>
                  </a:solidFill>
                  <a:latin typeface="Raleway"/>
                  <a:ea typeface="Raleway"/>
                  <a:cs typeface="Raleway"/>
                  <a:sym typeface="Raleway"/>
                </a:rPr>
                <a:t>Base + IVA - retención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2269970" y="0"/>
              <a:ext cx="3795712" cy="3249164"/>
              <a:chOff x="0" y="0"/>
              <a:chExt cx="749770" cy="6418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9770" cy="641810"/>
              </a:xfrm>
              <a:custGeom>
                <a:avLst/>
                <a:gdLst/>
                <a:ahLst/>
                <a:cxnLst/>
                <a:rect r="r" b="b" t="t" l="l"/>
                <a:pathLst>
                  <a:path h="641810" w="749770">
                    <a:moveTo>
                      <a:pt x="0" y="0"/>
                    </a:moveTo>
                    <a:lnTo>
                      <a:pt x="749770" y="0"/>
                    </a:lnTo>
                    <a:lnTo>
                      <a:pt x="749770" y="641810"/>
                    </a:lnTo>
                    <a:lnTo>
                      <a:pt x="0" y="641810"/>
                    </a:lnTo>
                    <a:close/>
                  </a:path>
                </a:pathLst>
              </a:custGeom>
              <a:solidFill>
                <a:srgbClr val="3C393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749770" cy="698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819572" y="1002166"/>
              <a:ext cx="6696508" cy="604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7"/>
                </a:lnSpc>
                <a:spcBef>
                  <a:spcPct val="0"/>
                </a:spcBef>
              </a:pPr>
              <a:r>
                <a:rPr lang="en-US" sz="3496" spc="-241">
                  <a:solidFill>
                    <a:srgbClr val="F1EAE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IVA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92456"/>
              <a:ext cx="8335652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1EAE0"/>
                  </a:solidFill>
                  <a:latin typeface="Raleway"/>
                  <a:ea typeface="Raleway"/>
                  <a:cs typeface="Raleway"/>
                  <a:sym typeface="Raleway"/>
                </a:rPr>
                <a:t>Base x tarifa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3288108" y="0"/>
              <a:ext cx="3795712" cy="3249164"/>
              <a:chOff x="0" y="0"/>
              <a:chExt cx="749770" cy="64181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49770" cy="641810"/>
              </a:xfrm>
              <a:custGeom>
                <a:avLst/>
                <a:gdLst/>
                <a:ahLst/>
                <a:cxnLst/>
                <a:rect r="r" b="b" t="t" l="l"/>
                <a:pathLst>
                  <a:path h="641810" w="749770">
                    <a:moveTo>
                      <a:pt x="0" y="0"/>
                    </a:moveTo>
                    <a:lnTo>
                      <a:pt x="749770" y="0"/>
                    </a:lnTo>
                    <a:lnTo>
                      <a:pt x="749770" y="641810"/>
                    </a:lnTo>
                    <a:lnTo>
                      <a:pt x="0" y="641810"/>
                    </a:lnTo>
                    <a:close/>
                  </a:path>
                </a:pathLst>
              </a:custGeom>
              <a:solidFill>
                <a:srgbClr val="3C393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749770" cy="698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1837710" y="1002166"/>
              <a:ext cx="6696508" cy="604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7"/>
                </a:lnSpc>
                <a:spcBef>
                  <a:spcPct val="0"/>
                </a:spcBef>
              </a:pPr>
              <a:r>
                <a:rPr lang="en-US" sz="3496" spc="-241">
                  <a:solidFill>
                    <a:srgbClr val="F1EAE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DUPLICADOS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3088965" y="1768515"/>
              <a:ext cx="4358618" cy="929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1EAE0"/>
                  </a:solidFill>
                  <a:latin typeface="Raleway"/>
                  <a:ea typeface="Raleway"/>
                  <a:cs typeface="Raleway"/>
                  <a:sym typeface="Raleway"/>
                </a:rPr>
                <a:t>Facturas y registros contables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8528669" y="0"/>
              <a:ext cx="3795712" cy="3249164"/>
              <a:chOff x="0" y="0"/>
              <a:chExt cx="749770" cy="6418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49770" cy="641810"/>
              </a:xfrm>
              <a:custGeom>
                <a:avLst/>
                <a:gdLst/>
                <a:ahLst/>
                <a:cxnLst/>
                <a:rect r="r" b="b" t="t" l="l"/>
                <a:pathLst>
                  <a:path h="641810" w="749770">
                    <a:moveTo>
                      <a:pt x="0" y="0"/>
                    </a:moveTo>
                    <a:lnTo>
                      <a:pt x="749770" y="0"/>
                    </a:lnTo>
                    <a:lnTo>
                      <a:pt x="749770" y="641810"/>
                    </a:lnTo>
                    <a:lnTo>
                      <a:pt x="0" y="641810"/>
                    </a:lnTo>
                    <a:close/>
                  </a:path>
                </a:pathLst>
              </a:custGeom>
              <a:solidFill>
                <a:srgbClr val="3C393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749770" cy="698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7078271" y="1002166"/>
              <a:ext cx="6696508" cy="604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7"/>
                </a:lnSpc>
                <a:spcBef>
                  <a:spcPct val="0"/>
                </a:spcBef>
              </a:pPr>
              <a:r>
                <a:rPr lang="en-US" sz="3496" spc="-241">
                  <a:solidFill>
                    <a:srgbClr val="F1EAE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CONTABILIDAD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8329526" y="1768515"/>
              <a:ext cx="4358618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1EAE0"/>
                  </a:solidFill>
                  <a:latin typeface="Raleway"/>
                  <a:ea typeface="Raleway"/>
                  <a:cs typeface="Raleway"/>
                  <a:sym typeface="Raleway"/>
                </a:rPr>
                <a:t>Faltantes y pendientes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615279" y="8826501"/>
            <a:ext cx="9057442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También s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validan campos obligatorios y valores numéricos.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204" y="4879950"/>
            <a:ext cx="8882796" cy="4730089"/>
          </a:xfrm>
          <a:custGeom>
            <a:avLst/>
            <a:gdLst/>
            <a:ahLst/>
            <a:cxnLst/>
            <a:rect r="r" b="b" t="t" l="l"/>
            <a:pathLst>
              <a:path h="4730089" w="8882796">
                <a:moveTo>
                  <a:pt x="0" y="0"/>
                </a:moveTo>
                <a:lnTo>
                  <a:pt x="8882796" y="0"/>
                </a:lnTo>
                <a:lnTo>
                  <a:pt x="8882796" y="4730089"/>
                </a:lnTo>
                <a:lnTo>
                  <a:pt x="0" y="473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63304" y="4879950"/>
            <a:ext cx="8924696" cy="4730089"/>
          </a:xfrm>
          <a:custGeom>
            <a:avLst/>
            <a:gdLst/>
            <a:ahLst/>
            <a:cxnLst/>
            <a:rect r="r" b="b" t="t" l="l"/>
            <a:pathLst>
              <a:path h="4730089" w="8924696">
                <a:moveTo>
                  <a:pt x="0" y="0"/>
                </a:moveTo>
                <a:lnTo>
                  <a:pt x="8924696" y="0"/>
                </a:lnTo>
                <a:lnTo>
                  <a:pt x="8924696" y="4730089"/>
                </a:lnTo>
                <a:lnTo>
                  <a:pt x="0" y="4730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20247" y="657734"/>
            <a:ext cx="7176175" cy="103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7"/>
              </a:lnSpc>
              <a:spcBef>
                <a:spcPct val="0"/>
              </a:spcBef>
            </a:pPr>
            <a:r>
              <a:rPr lang="en-US" b="true" sz="8799" spc="-607" strike="noStrike" u="none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RESULTADOS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3102" y="2497264"/>
            <a:ext cx="2233549" cy="1604645"/>
            <a:chOff x="0" y="0"/>
            <a:chExt cx="2978065" cy="213952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986430" y="-95250"/>
              <a:ext cx="1005205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C393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50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08168"/>
              <a:ext cx="2978065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C3936"/>
                  </a:solidFill>
                  <a:latin typeface="Open Sans"/>
                  <a:ea typeface="Open Sans"/>
                  <a:cs typeface="Open Sans"/>
                  <a:sym typeface="Open Sans"/>
                </a:rPr>
                <a:t>Facturas analizadas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27224" y="2497264"/>
            <a:ext cx="2233549" cy="1604645"/>
            <a:chOff x="0" y="0"/>
            <a:chExt cx="2978065" cy="213952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86430" y="-95250"/>
              <a:ext cx="1005205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C393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28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08168"/>
              <a:ext cx="2978065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C3936"/>
                  </a:solidFill>
                  <a:latin typeface="Open Sans"/>
                  <a:ea typeface="Open Sans"/>
                  <a:cs typeface="Open Sans"/>
                  <a:sym typeface="Open Sans"/>
                </a:rPr>
                <a:t>Facturas correctas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61346" y="2497264"/>
            <a:ext cx="2397954" cy="1604645"/>
            <a:chOff x="0" y="0"/>
            <a:chExt cx="3197271" cy="213952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986430" y="-95250"/>
              <a:ext cx="1005205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C393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08168"/>
              <a:ext cx="3197271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C3936"/>
                  </a:solidFill>
                  <a:latin typeface="Open Sans"/>
                  <a:ea typeface="Open Sans"/>
                  <a:cs typeface="Open Sans"/>
                  <a:sym typeface="Open Sans"/>
                </a:rPr>
                <a:t>Facturas con inconsistencias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7675" y="0"/>
            <a:ext cx="6320325" cy="10287000"/>
            <a:chOff x="0" y="0"/>
            <a:chExt cx="166461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61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4612">
                  <a:moveTo>
                    <a:pt x="0" y="0"/>
                  </a:moveTo>
                  <a:lnTo>
                    <a:pt x="1664612" y="0"/>
                  </a:lnTo>
                  <a:lnTo>
                    <a:pt x="166461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C3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461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09533" y="243320"/>
            <a:ext cx="2836610" cy="9800360"/>
          </a:xfrm>
          <a:custGeom>
            <a:avLst/>
            <a:gdLst/>
            <a:ahLst/>
            <a:cxnLst/>
            <a:rect r="r" b="b" t="t" l="l"/>
            <a:pathLst>
              <a:path h="9800360" w="2836610">
                <a:moveTo>
                  <a:pt x="0" y="0"/>
                </a:moveTo>
                <a:lnTo>
                  <a:pt x="2836610" y="0"/>
                </a:lnTo>
                <a:lnTo>
                  <a:pt x="2836610" y="9800360"/>
                </a:lnTo>
                <a:lnTo>
                  <a:pt x="0" y="9800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6114" y="4772534"/>
            <a:ext cx="8027886" cy="103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567"/>
              </a:lnSpc>
            </a:pPr>
            <a:r>
              <a:rPr lang="en-US" b="true" sz="8799" spc="-607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ARQUITECTURA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6755" y="1028700"/>
            <a:ext cx="14034490" cy="2055033"/>
            <a:chOff x="0" y="0"/>
            <a:chExt cx="18712653" cy="27400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8712653" cy="2740044"/>
              <a:chOff x="0" y="0"/>
              <a:chExt cx="3696326" cy="5412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6326" cy="541243"/>
              </a:xfrm>
              <a:custGeom>
                <a:avLst/>
                <a:gdLst/>
                <a:ahLst/>
                <a:cxnLst/>
                <a:rect r="r" b="b" t="t" l="l"/>
                <a:pathLst>
                  <a:path h="541243" w="3696326">
                    <a:moveTo>
                      <a:pt x="0" y="0"/>
                    </a:moveTo>
                    <a:lnTo>
                      <a:pt x="3696326" y="0"/>
                    </a:lnTo>
                    <a:lnTo>
                      <a:pt x="3696326" y="541243"/>
                    </a:lnTo>
                    <a:lnTo>
                      <a:pt x="0" y="541243"/>
                    </a:lnTo>
                    <a:close/>
                  </a:path>
                </a:pathLst>
              </a:custGeom>
              <a:solidFill>
                <a:srgbClr val="3C393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3696326" cy="5983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50969" y="827816"/>
              <a:ext cx="17410715" cy="1199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20"/>
                </a:lnSpc>
                <a:spcBef>
                  <a:spcPct val="0"/>
                </a:spcBef>
              </a:pPr>
              <a:r>
                <a:rPr lang="en-US" b="true" sz="7000" spc="-483">
                  <a:solidFill>
                    <a:srgbClr val="F1EAE0"/>
                  </a:solidFill>
                  <a:latin typeface="Playfair Display Semi-Bold"/>
                  <a:ea typeface="Playfair Display Semi-Bold"/>
                  <a:cs typeface="Playfair Display Semi-Bold"/>
                  <a:sym typeface="Playfair Display Semi-Bold"/>
                </a:rPr>
                <a:t>CONCLUSIONES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61799" y="5810491"/>
            <a:ext cx="4981529" cy="5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7"/>
              </a:lnSpc>
              <a:spcBef>
                <a:spcPct val="0"/>
              </a:spcBef>
            </a:pPr>
            <a:r>
              <a:rPr lang="en-US" sz="4473" spc="-308">
                <a:solidFill>
                  <a:srgbClr val="3C3936">
                    <a:alpha val="72941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AUTOMATIZACIÓN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3235" y="5810491"/>
            <a:ext cx="4981529" cy="5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7"/>
              </a:lnSpc>
              <a:spcBef>
                <a:spcPct val="0"/>
              </a:spcBef>
            </a:pPr>
            <a:r>
              <a:rPr lang="en-US" sz="4473" spc="-308">
                <a:solidFill>
                  <a:srgbClr val="3C3936">
                    <a:alpha val="72941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TRAZABILIDAD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1799" y="7022862"/>
            <a:ext cx="49815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du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ce v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alidacio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s manua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les 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y ce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raliza l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s hallazgos.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53235" y="7022862"/>
            <a:ext cx="49815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Cada inconsist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ci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 m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ra su causa y va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 r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leva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44671" y="5810491"/>
            <a:ext cx="4981529" cy="5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7"/>
              </a:lnSpc>
              <a:spcBef>
                <a:spcPct val="0"/>
              </a:spcBef>
            </a:pPr>
            <a:r>
              <a:rPr lang="en-US" sz="4473" spc="-308">
                <a:solidFill>
                  <a:srgbClr val="3C3936">
                    <a:alpha val="72941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ESCALABILIDAD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44671" y="7022862"/>
            <a:ext cx="4981529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Ba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se 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re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parada para p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rsist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cia, au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nticación 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 in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gración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co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 sis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3C3936"/>
                </a:solidFill>
                <a:latin typeface="Raleway"/>
                <a:ea typeface="Raleway"/>
                <a:cs typeface="Raleway"/>
                <a:sym typeface="Raleway"/>
              </a:rPr>
              <a:t>emas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DAHWzOssm9k</dc:identifier>
  <dcterms:modified xsi:type="dcterms:W3CDTF">2011-08-01T06:04:30Z</dcterms:modified>
  <cp:revision>1</cp:revision>
  <dc:title>Prueba tecnica</dc:title>
</cp:coreProperties>
</file>